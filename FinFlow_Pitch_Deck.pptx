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₹ FINFLOW (VYAPARSETU)  •  GRAPHIQUES INNOVATION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FinFlow: Algorithmic Daily Capital &amp; Parametric Climate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Replacing 300%+ APR predatory debt for 40M unbanked street vendors in India with 4:30 AM algorithmic working capital, daily UPI micro-skimming, and autonomous climate protection.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2468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D97706"/>
                </a:solidFill>
              </a:defRPr>
            </a:pPr>
            <a:r>
              <a:t>40M+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Informal Micro-Vendors in India Driving Daily Commerce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240280"/>
            <a:ext cx="2468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69748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DC2626"/>
                </a:solidFill>
              </a:defRPr>
            </a:pPr>
            <a:r>
              <a:t>&gt;300%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Effective APR Charged by Informal Loan Sharks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240280"/>
            <a:ext cx="2468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69748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59669"/>
                </a:solidFill>
              </a:defRPr>
            </a:pPr>
            <a:r>
              <a:t>₹20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Flat Daily Cycle Fee for FinFlow Sunrise Capital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240280"/>
            <a:ext cx="2468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69748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284C7"/>
                </a:solidFill>
              </a:defRPr>
            </a:pPr>
            <a:r>
              <a:t>&lt;60s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Parametric Weather Insurance Payout Without Paperwork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THE REAL-WORLD CRISIS • RAJU'S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The Dawn Capital Deficit &amp; The 300% APR Debt Trap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At 4:30 AM, Raju the fruit vendor needs ₹3,000 for wholesale Mandi inventory. Slow banking forces him into predatory lenders charging over 300% APR, trapping his family in debt.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33832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tickman_raju_mand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31720"/>
            <a:ext cx="320040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46177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🌅 4:30 AM Wholesale Mandi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Needs ₹3,000 wholesale inventory capital before dawn. Traditional banks open at 10 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240280"/>
            <a:ext cx="33832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tickman_loan_sh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331720"/>
            <a:ext cx="3200400" cy="2194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26280" y="46177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🩸 &gt;300% APR Predatory Debt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Slow banking forces him into lenders ('Meter Vaddi') charging over 300% APR, trapping his family in debt.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2240280"/>
            <a:ext cx="338328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tickman_climate_shoc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331720"/>
            <a:ext cx="3200400" cy="2194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38160" y="461772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⛈️ Zero Weather Relief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Monsoon floods and heatwaves rot perishable inventory. With zero relief from lenders, vendors face default.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STRUCTURAL FAILURE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Why Traditional Banking &amp; MFIs Fail Street Vendors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Traditional banks fail informal vendors by demanding collateral, tax returns, and rigid monthly EMIs. When heatwaves or floods hit, lenders offer zero relief, triggering default.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24028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743200"/>
                <a:gridCol w="3200400"/>
              </a:tblGrid>
              <a:tr h="7863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Commercial Banks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Microfinance (MFIs)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FinFlow (VyaparSetu)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Underwriting Data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ITR, CIBIL, audited balance sheets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Joint liability group peer pressure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5F46"/>
                          </a:solidFill>
                        </a:defRPr>
                      </a:pPr>
                      <a:r>
                        <a:t>Velocity TrustScore (Zero Collateral)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Repayment Rhythm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Rigid monthly EMI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Bi-weekly mandatory meetings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5F46"/>
                          </a:solidFill>
                        </a:defRPr>
                      </a:pPr>
                      <a:r>
                        <a:t>Reverse Micro-Skimming (Daily QR Sales)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Disbursement Speed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5 to 14 Business Days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2 to 4 Weeks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5F46"/>
                          </a:solidFill>
                        </a:defRPr>
                      </a:pPr>
                      <a:r>
                        <a:t>Instant (&lt;10s Disbursal at 4:30 AM)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Climate Defense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None (Default penalty applied)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F172A"/>
                          </a:solidFill>
                        </a:defRPr>
                      </a:pPr>
                      <a:r>
                        <a:t>None (Coercive collection agents)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65F46"/>
                          </a:solidFill>
                        </a:defRPr>
                      </a:pPr>
                      <a:r>
                        <a:t>Autonomous Parametric Weather Moratorium &amp; Relief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THE CORE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The Four Pillars of the FinFlow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FinFlow introduces four pillars: Sunrise Capital for 4:30 AM advances, Reverse Micro-Skimming from daily UPI sales, Suraksha Goolak for emergency savings, and our Parametric Climate Shield for automated weather payouts.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52578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🌅 1. Sunrise Capital  [4:30 AM ADVANCES]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Pre-dawn inventory advances (₹1,500-₹5,000) triggered via regional voice in &lt;5s at flat ₹20 fee (0.8% vs 15%+ loan sharks).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240280"/>
            <a:ext cx="52578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42316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⚡ 2. Reverse Micro-Skimming  [DAILY UPI SALES]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Algorithmic 8%-10% deduction per retail UPI sale. Advance is 100% repaid by dusk with zero debt rollover.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51960"/>
            <a:ext cx="52578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🏺 3. Suraksha Goolak  [EMERGENCY SAVINGS]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Weekend sales surpluses automatically route into an interest-bearing liquid fund, building a family rainy-day reserve.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251960"/>
            <a:ext cx="52578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43484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🛡️ 4. Parametric Climate Shield  [WEATHER PAYOUTS]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Radar alerts (&gt;35mm/hr rain or &gt;43°C heat) auto-freeze daily repayments and disburse ₹600 emergency relief.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USER EXPERIENCE &amp; DAILY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 Day in the Life: How Raju Vends with FinFlow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Raju's day: at 4:30 AM, his smart soundbox disburses 3,000 rupees in seconds. Customer UPI payments auto-settle the loan in micro-slices, leaving his balance clear by evening.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🌅 4:30 AM • Smart Soundbox Disburses ₹3,000 in Seconds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Soundbox announces: 'Namaste Raju bhai, ₹3,000 Sunrise loan taiyaar hai.' Raju confirms 'Haan'. Disbursed in 5 seconds.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🛒 11:30 AM • Customer UPI Payments Auto-Settle in Micro-Slices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Customer pays ₹200 via UPI QR. Soundbox chirps: '₹200 prapt hue. ₹18 loan chukta, ₹2 Goolak mein jama!'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5196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C2626"/>
                </a:solidFill>
              </a:defRPr>
            </a:pPr>
            <a:r>
              <a:t>⛈️ 2:00 PM • Monsoon Downpour: Weather Oracle Auto-Freezes Debt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45mm rain detected by IMD radar. Repayments pause automatically, zero penalty, ₹600 emergency payout credited.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t>🌙 8:30 PM • Zero-Debt Evening: Balance 100% Clear by Dusk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Advance 100% cleared. ₹114 saved in Goolak. TrustScore +6. Raju goes home with zero debt.</a:t>
            </a:r>
          </a:p>
        </p:txBody>
      </p:sp>
      <p:pic>
        <p:nvPicPr>
          <p:cNvPr id="10" name="Picture 9" descr="stickman_soundbox_spl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240280"/>
            <a:ext cx="411480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ENGINEERING &amp;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Engineered on India's Digital Public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Built on India's Digital Public Infrastructure, FinFlow integrates OCEN 4.0, real-time UPI settlement webhooks, and our Velocity TrustScore that replaces traditional credit scores.</a:t>
            </a:r>
          </a:p>
        </p:txBody>
      </p:sp>
      <p:pic>
        <p:nvPicPr>
          <p:cNvPr id="6" name="Picture 5" descr="stickman_soundbox_spl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40280"/>
            <a:ext cx="502920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35040" y="2240280"/>
            <a:ext cx="539496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237744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⚡ Sub-250ms Real-Time Webhook Engine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Instantaneous multi-split routing between vendor spendable wallet, SFB loan vault, and Goolak on NPCI settlement webhooks.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566160"/>
            <a:ext cx="539496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370332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🧠 Velocity TrustScore ML Model (Replaces Credit Scores)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Evaluates 90-day transaction regularity, mandi geo-location stamps, ticket size, and peer rings without CIBIL.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892040"/>
            <a:ext cx="539496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50292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📡 Parametric Weather Oracle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Telemetry integration with Open-Meteo &amp; IMD radar evaluates rainfall (mm/hr) and heat index across 1km² municipal polygons.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BUSINESS MODEL &amp;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High-Margin, Asset-Light 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Our business model is high-margin and asset-light. A flat 20-rupee fee per daily cycle delivers an 86.8 percent net margin and a 14.8 times lifetime value to CAC ratio.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2468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D97706"/>
                </a:solidFill>
              </a:defRPr>
            </a:pPr>
            <a:r>
              <a:t>₹20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Flat Fee per Daily Cycle (₹3,000 Advance)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240280"/>
            <a:ext cx="2468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69748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59669"/>
                </a:solidFill>
              </a:defRPr>
            </a:pPr>
            <a:r>
              <a:t>86.8%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Net Contribution Margin per Vendor 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240280"/>
            <a:ext cx="2468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69748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284C7"/>
                </a:solidFill>
              </a:defRPr>
            </a:pPr>
            <a:r>
              <a:t>14.8x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Lifetime Value (LTV) to CAC Ratio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240280"/>
            <a:ext cx="24688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697480"/>
            <a:ext cx="2103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059669"/>
                </a:solidFill>
              </a:defRPr>
            </a:pPr>
            <a:r>
              <a:t>&lt; 0.8%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Target NPL Default Rate via Micro-Skimming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MARKET OPPORTUNITY &amp; REVENUE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40M Vendors • $18 Billion Daily Capital Demand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Forty million vendors represent an 18-billion-dollar working capital demand. Scaling to 250,000 merchants across eight trading hubs unlocks 18 million dollars in annual recurring revenue.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33832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40M VENDORS DEMAND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$18 Billion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40 Million informal street vendors in India circulating over $12B daily with zero access to bank capital.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40280"/>
            <a:ext cx="33832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60604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8 TRADING HUBS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8 Hubs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Dense metropolitan trading clusters: Delhi NCR, Mumbai, Bengaluru, Hyderabad, Ahmedabad, Kolkata, Lucknow, Indore.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240280"/>
            <a:ext cx="3383280" cy="3840480"/>
          </a:xfrm>
          <a:prstGeom prst="roundRect">
            <a:avLst/>
          </a:prstGeom>
          <a:solidFill>
            <a:srgbClr val="F8FAFC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60604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ANNUAL RECURRING REVENUE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$18M ARR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Scaling to 250,000 active micro-merchants across 8 trading hubs unlocks $18 Million in high-margin ARR.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EXECUTION &amp; 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15-Month Scaled 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Our 15-month roadmap pilots with 1,000 vendors in Delhi's Azadpur Mandi, scales with Small Finance Banks, and expands nationally to 100,000 merchants across fifteen states.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Phase 1: Pilot with 1,000 Vendors in Delhi's Azadpur Mandi (M1-3)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Deploy pilot with 1,000 vendors in Azadpur Mandi (Delhi). Validate sub-250ms auto-split and vernacular voice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1069848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4904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Phase 2: Scale with Small Finance Banks via OCEN 4.0 (M4-8)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Direct OCEN 4.0 integration with 2 Small Finance Banks; partner with micro-insurance underwriters for Parametric Rain Shield.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83480"/>
            <a:ext cx="1069848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Phase 3: National Scale to 100,000 Merchants Across 15 States (M9-15)</a:t>
            </a:r>
          </a:p>
          <a:p>
            <a:pPr>
              <a:defRPr sz="1150">
                <a:solidFill>
                  <a:srgbClr val="334155"/>
                </a:solidFill>
              </a:defRPr>
            </a:pPr>
            <a:r>
              <a:t>Scale to 100,000 active vendors across 15 states. Introduce automated micro-pensions and group purchasing discounts.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GRAPHIQUES INNOVATION CHALLENGE •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Redesigning the World: Dignity for the Hands That Feed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34155"/>
                </a:solidFill>
              </a:defRPr>
            </a:pPr>
            <a:r>
              <a:t>FinFlow saves vendors over ₹7,500 every month, restoring economic freedom and dignity to the backbone of our economy. Thank you.</a:t>
            </a:r>
          </a:p>
        </p:txBody>
      </p:sp>
      <p:pic>
        <p:nvPicPr>
          <p:cNvPr id="6" name="Picture 5" descr="stickman_dignity_resto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40280"/>
            <a:ext cx="5303520" cy="39319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2240280"/>
            <a:ext cx="51206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2377440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💰 Restoring Economic Freedom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Saves the average street vendor over ₹7,500 every month in avoided loan shark interest—directly raising disposable income by 35%.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566160"/>
            <a:ext cx="51206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703320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🛡️ Climate Resilience &amp; Protection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Autonomous weather safety net ensures heatwaves and floods no longer push micro-entrepreneurs into bankruptcy.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892040"/>
            <a:ext cx="51206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5029200"/>
            <a:ext cx="4754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🤝 Dignity for the Backbone of Our Economy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Voice-first vernacular interaction empowers 40M+ non-literate vendors as equal participants in digital finance.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